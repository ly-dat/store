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38" y="-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7E42A-61B5-2B03-224A-D5F72B883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41AFB-0B3E-E2A1-9E3E-F9E53ABF3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07EFF-3277-0A5C-F0A1-9D6E8AEE7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38B5-AEF3-487D-9C3E-02D7AEF5FE34}" type="datetimeFigureOut">
              <a:rPr lang="vi-VN" smtClean="0"/>
              <a:t>30/03/2025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C9107-DB8A-42BB-F856-4C87388EC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B09CA-71DA-9598-AE23-F72F813E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F6605-06A3-47BD-AACC-9FAC976F29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683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7AAA-56EA-DD62-3DA1-128EC6A8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40AD6-0A8E-FB3F-5BB1-62E2DA2F5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D0642-E7EA-9D17-6B59-8445320B0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38B5-AEF3-487D-9C3E-02D7AEF5FE34}" type="datetimeFigureOut">
              <a:rPr lang="vi-VN" smtClean="0"/>
              <a:t>30/03/2025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351EE-2A3F-E3B9-0A0E-8D4A3F504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F0D4C-8D54-BC3F-9EA8-B6A9BCBD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F6605-06A3-47BD-AACC-9FAC976F29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9177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5856-B9C1-4BB0-2623-84C466F0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706DB-58FD-0C7F-EE76-3C3072577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DE6FF-8C4D-5172-966B-C5B0B4B9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38B5-AEF3-487D-9C3E-02D7AEF5FE34}" type="datetimeFigureOut">
              <a:rPr lang="vi-VN" smtClean="0"/>
              <a:t>30/03/2025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9AA22-F817-0F8F-BE2F-AC14A78C5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47C2C-92DC-DD6C-D7DF-0030336E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F6605-06A3-47BD-AACC-9FAC976F29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2870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DFE2B-ABC2-B2FF-1986-971DF337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E5182-5A36-76B8-D520-C1AF0DEAF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662E1F-2857-52FF-CEBE-7B8FCCCD9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3D755-DA3E-BDB3-18E8-32528514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38B5-AEF3-487D-9C3E-02D7AEF5FE34}" type="datetimeFigureOut">
              <a:rPr lang="vi-VN" smtClean="0"/>
              <a:t>30/03/2025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BD461-C865-073A-5837-4B8893625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9E796-E386-199A-8534-0F09381D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F6605-06A3-47BD-AACC-9FAC976F29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45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86AD-D1EF-796D-257C-D7E7581F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A49BF-2376-DAA5-A108-D16DF3368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D5833-30DB-3B9A-FBB1-8EA16A020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05B6E-9754-3402-8A01-9976B96C6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468AEE-D5A4-DE69-F71C-780EF67B8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BAB63E-A77E-F330-5868-040ECFB02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38B5-AEF3-487D-9C3E-02D7AEF5FE34}" type="datetimeFigureOut">
              <a:rPr lang="vi-VN" smtClean="0"/>
              <a:t>30/03/2025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A53607-E129-6B21-ED43-E3C30A59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9EA4E8-E0D0-DD38-B1E7-65A323FA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F6605-06A3-47BD-AACC-9FAC976F29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1181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8A40-CE1D-CC39-79F4-A9654CF85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46D60-1C8D-C71F-F2C1-AD06EED0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38B5-AEF3-487D-9C3E-02D7AEF5FE34}" type="datetimeFigureOut">
              <a:rPr lang="vi-VN" smtClean="0"/>
              <a:t>30/03/2025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60A548-B4A6-3B3E-A184-834C7EF5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6A122-6B09-FDCE-0B5F-23BD9E8D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F6605-06A3-47BD-AACC-9FAC976F29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54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5DDAF4-90E5-BB8E-D151-E00E3E6C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38B5-AEF3-487D-9C3E-02D7AEF5FE34}" type="datetimeFigureOut">
              <a:rPr lang="vi-VN" smtClean="0"/>
              <a:t>30/03/2025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8CFD4-1EE7-F8A6-5F7A-F6460E54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F059B-38FA-45E7-7F82-08D519AF8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F6605-06A3-47BD-AACC-9FAC976F29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77457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9ACB3-C3CD-9DCE-4506-1AC8DCA62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681C-E874-0F91-DD1B-86301C15F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9248D-C139-4E7A-8D18-84386E71B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83146-148F-960F-88F7-75E64C4B2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38B5-AEF3-487D-9C3E-02D7AEF5FE34}" type="datetimeFigureOut">
              <a:rPr lang="vi-VN" smtClean="0"/>
              <a:t>30/03/2025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73218-87B4-2711-13A1-949C3028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031D2-1B1D-81E0-CE9C-2EFE08E36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F6605-06A3-47BD-AACC-9FAC976F29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801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93F3C-E22C-7DE9-2875-359EE011C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E6531-C335-CEBB-A598-511A36A16F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37F4B-3488-2280-F6C7-A12EF7446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FB8C3-4DF8-23A9-7971-D554EF1BC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38B5-AEF3-487D-9C3E-02D7AEF5FE34}" type="datetimeFigureOut">
              <a:rPr lang="vi-VN" smtClean="0"/>
              <a:t>30/03/2025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14EC8-0D9A-7098-6421-4BB8FB9D3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2AA39-4DB8-A1A4-8879-B727ABC4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F6605-06A3-47BD-AACC-9FAC976F29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9769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04B3D-A446-8E18-5219-3C886BF0B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2AFF2-1194-7404-73E3-A770CBA61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C6C3D-668A-B9E1-619D-46AB9D9DE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38B5-AEF3-487D-9C3E-02D7AEF5FE34}" type="datetimeFigureOut">
              <a:rPr lang="vi-VN" smtClean="0"/>
              <a:t>30/03/2025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54B99-A68F-F078-7E27-2626553F5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066A4-586E-978F-B714-A38EC915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F6605-06A3-47BD-AACC-9FAC976F29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21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42A1AD-7DC5-EFA1-51B0-444FC6345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D57BB-B304-E9AF-8D9E-5713F9BFE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CF0FE-9E40-C1EC-ADA9-64764912A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938B5-AEF3-487D-9C3E-02D7AEF5FE34}" type="datetimeFigureOut">
              <a:rPr lang="vi-VN" smtClean="0"/>
              <a:t>30/03/2025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FFAC8-8E3D-57A0-8C78-267C30298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8E7EA-2E32-69CB-5F9B-155C4900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F6605-06A3-47BD-AACC-9FAC976F29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719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C53F6F-B88C-DBE9-75D7-D56A4909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69622-8B01-17F2-E765-A3C823742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9FC03-BA83-DAD1-9A1C-E60B57D11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9938B5-AEF3-487D-9C3E-02D7AEF5FE34}" type="datetimeFigureOut">
              <a:rPr lang="vi-VN" smtClean="0"/>
              <a:t>30/03/2025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4DEBC-812D-8A34-707F-A56AF3400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A9AF5-0343-F4ED-18BD-1B9004697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F6605-06A3-47BD-AACC-9FAC976F29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350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AB55C9-BD45-5477-2C34-02D51246A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426424"/>
              </p:ext>
            </p:extLst>
          </p:nvPr>
        </p:nvGraphicFramePr>
        <p:xfrm>
          <a:off x="4117107" y="956809"/>
          <a:ext cx="3482111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82111">
                  <a:extLst>
                    <a:ext uri="{9D8B030D-6E8A-4147-A177-3AD203B41FA5}">
                      <a16:colId xmlns:a16="http://schemas.microsoft.com/office/drawing/2014/main" val="842686724"/>
                    </a:ext>
                  </a:extLst>
                </a:gridCol>
              </a:tblGrid>
              <a:tr h="3878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&lt;&lt;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abstract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&gt;&gt;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ShippingService</a:t>
                      </a:r>
                      <a:endParaRPr lang="vi-VN" sz="10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00182"/>
                  </a:ext>
                </a:extLst>
              </a:tr>
              <a:tr h="835388">
                <a:tc>
                  <a:txBody>
                    <a:bodyPr/>
                    <a:lstStyle/>
                    <a:p>
                      <a:pPr algn="l"/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trackingId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String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senderName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String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receiverName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String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packageWeight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double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status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ShippingStatus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070682"/>
                  </a:ext>
                </a:extLst>
              </a:tr>
              <a:tr h="2160805">
                <a:tc>
                  <a:txBody>
                    <a:bodyPr/>
                    <a:lstStyle/>
                    <a:p>
                      <a:pPr algn="l"/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ShippingService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trackingId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senderName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receiverName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packageWeight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double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status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ShippingStatus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setID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trackingId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setSenderName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senderName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setReceiverName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receiverName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setPackageWeight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packageWeight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setStatus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ShippingStatus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getID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String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getSenderName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String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getReceiverName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getPackageWeight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getStatus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ShippingStatus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calculateCost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68544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46727B-615E-27C7-7E7F-4694EC22E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311915"/>
              </p:ext>
            </p:extLst>
          </p:nvPr>
        </p:nvGraphicFramePr>
        <p:xfrm>
          <a:off x="8752840" y="2645138"/>
          <a:ext cx="1930400" cy="1052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2659184322"/>
                    </a:ext>
                  </a:extLst>
                </a:gridCol>
              </a:tblGrid>
              <a:tr h="2556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StandardShipping</a:t>
                      </a:r>
                      <a:endParaRPr lang="vi-VN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83337"/>
                  </a:ext>
                </a:extLst>
              </a:tr>
              <a:tr h="400474">
                <a:tc>
                  <a:txBody>
                    <a:bodyPr/>
                    <a:lstStyle/>
                    <a:p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fr-FR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baseCost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</a:p>
                    <a:p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fr-FR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perKg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calculateCost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vi-VN" sz="1000" dirty="0"/>
                        <a:t>+ </a:t>
                      </a:r>
                      <a:r>
                        <a:rPr lang="vi-VN" sz="1000" dirty="0" err="1"/>
                        <a:t>toString</a:t>
                      </a:r>
                      <a:r>
                        <a:rPr lang="vi-VN" sz="1000" dirty="0"/>
                        <a:t>(): </a:t>
                      </a:r>
                      <a:r>
                        <a:rPr lang="vi-VN" sz="1000" dirty="0" err="1"/>
                        <a:t>void</a:t>
                      </a:r>
                      <a:endParaRPr lang="vi-V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62505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0CC89-994D-3624-A1C0-9997CBBF4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29779"/>
              </p:ext>
            </p:extLst>
          </p:nvPr>
        </p:nvGraphicFramePr>
        <p:xfrm>
          <a:off x="8783320" y="1131146"/>
          <a:ext cx="1899920" cy="10828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9920">
                  <a:extLst>
                    <a:ext uri="{9D8B030D-6E8A-4147-A177-3AD203B41FA5}">
                      <a16:colId xmlns:a16="http://schemas.microsoft.com/office/drawing/2014/main" val="2659184322"/>
                    </a:ext>
                  </a:extLst>
                </a:gridCol>
              </a:tblGrid>
              <a:tr h="2861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ExpressShipping</a:t>
                      </a:r>
                      <a:endParaRPr lang="vi-VN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83337"/>
                  </a:ext>
                </a:extLst>
              </a:tr>
              <a:tr h="400474">
                <a:tc>
                  <a:txBody>
                    <a:bodyPr/>
                    <a:lstStyle/>
                    <a:p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fr-FR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baseCost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</a:p>
                    <a:p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fr-FR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perKg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fr-FR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calculateCost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vi-VN" sz="1000" dirty="0"/>
                        <a:t>+ </a:t>
                      </a:r>
                      <a:r>
                        <a:rPr lang="vi-VN" sz="1000" dirty="0" err="1"/>
                        <a:t>toString</a:t>
                      </a:r>
                      <a:r>
                        <a:rPr lang="vi-VN" sz="1000" dirty="0"/>
                        <a:t>(): </a:t>
                      </a:r>
                      <a:r>
                        <a:rPr lang="vi-VN" sz="1000" dirty="0" err="1"/>
                        <a:t>void</a:t>
                      </a:r>
                      <a:endParaRPr lang="vi-V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625054"/>
                  </a:ext>
                </a:extLst>
              </a:tr>
            </a:tbl>
          </a:graphicData>
        </a:graphic>
      </p:graphicFrame>
      <p:sp>
        <p:nvSpPr>
          <p:cNvPr id="7" name="Flowchart: Extract 6">
            <a:extLst>
              <a:ext uri="{FF2B5EF4-FFF2-40B4-BE49-F238E27FC236}">
                <a16:creationId xmlns:a16="http://schemas.microsoft.com/office/drawing/2014/main" id="{F7BF6851-B879-FFF6-0F0B-C662641BE639}"/>
              </a:ext>
            </a:extLst>
          </p:cNvPr>
          <p:cNvSpPr/>
          <p:nvPr/>
        </p:nvSpPr>
        <p:spPr>
          <a:xfrm rot="16200000">
            <a:off x="7618922" y="1134302"/>
            <a:ext cx="179494" cy="173182"/>
          </a:xfrm>
          <a:prstGeom prst="flowChartExtra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6E0863-73F6-FF16-9627-0D9C78C92BB2}"/>
              </a:ext>
            </a:extLst>
          </p:cNvPr>
          <p:cNvCxnSpPr>
            <a:stCxn id="7" idx="2"/>
          </p:cNvCxnSpPr>
          <p:nvPr/>
        </p:nvCxnSpPr>
        <p:spPr>
          <a:xfrm>
            <a:off x="7795260" y="1220893"/>
            <a:ext cx="9880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Flowchart: Extract 9">
            <a:extLst>
              <a:ext uri="{FF2B5EF4-FFF2-40B4-BE49-F238E27FC236}">
                <a16:creationId xmlns:a16="http://schemas.microsoft.com/office/drawing/2014/main" id="{8624B906-C9EC-E768-4B21-0DE4CA916556}"/>
              </a:ext>
            </a:extLst>
          </p:cNvPr>
          <p:cNvSpPr/>
          <p:nvPr/>
        </p:nvSpPr>
        <p:spPr>
          <a:xfrm rot="16200000">
            <a:off x="7618922" y="2648294"/>
            <a:ext cx="179494" cy="173182"/>
          </a:xfrm>
          <a:prstGeom prst="flowChartExtra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A73E23-6F03-4DB6-68FD-02B5D20B4773}"/>
              </a:ext>
            </a:extLst>
          </p:cNvPr>
          <p:cNvCxnSpPr>
            <a:stCxn id="10" idx="2"/>
          </p:cNvCxnSpPr>
          <p:nvPr/>
        </p:nvCxnSpPr>
        <p:spPr>
          <a:xfrm>
            <a:off x="7795260" y="2734885"/>
            <a:ext cx="9880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E2234D6-5F75-FF7D-E9C5-C3E5B75CD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688036"/>
              </p:ext>
            </p:extLst>
          </p:nvPr>
        </p:nvGraphicFramePr>
        <p:xfrm>
          <a:off x="1290087" y="887306"/>
          <a:ext cx="1399773" cy="94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9773">
                  <a:extLst>
                    <a:ext uri="{9D8B030D-6E8A-4147-A177-3AD203B41FA5}">
                      <a16:colId xmlns:a16="http://schemas.microsoft.com/office/drawing/2014/main" val="2659184322"/>
                    </a:ext>
                  </a:extLst>
                </a:gridCol>
              </a:tblGrid>
              <a:tr h="2861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r>
                        <a:rPr lang="vi-VN" sz="1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enumeration</a:t>
                      </a:r>
                      <a:r>
                        <a:rPr lang="vi-VN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ShippingStatus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83337"/>
                  </a:ext>
                </a:extLst>
              </a:tr>
              <a:tr h="400474">
                <a:tc>
                  <a:txBody>
                    <a:bodyPr/>
                    <a:lstStyle/>
                    <a:p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PENDING</a:t>
                      </a:r>
                    </a:p>
                    <a:p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IN_TRANSIT</a:t>
                      </a:r>
                    </a:p>
                    <a:p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576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73486F-21A9-FCE4-74C5-04CC5F8FAEA1}"/>
              </a:ext>
            </a:extLst>
          </p:cNvPr>
          <p:cNvCxnSpPr>
            <a:cxnSpLocks/>
          </p:cNvCxnSpPr>
          <p:nvPr/>
        </p:nvCxnSpPr>
        <p:spPr>
          <a:xfrm>
            <a:off x="2689860" y="1131146"/>
            <a:ext cx="14501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12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C14CBC-B7D5-F964-B5A5-EA9F6BEC3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005435"/>
              </p:ext>
            </p:extLst>
          </p:nvPr>
        </p:nvGraphicFramePr>
        <p:xfrm>
          <a:off x="7305040" y="579508"/>
          <a:ext cx="1899920" cy="7507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9920">
                  <a:extLst>
                    <a:ext uri="{9D8B030D-6E8A-4147-A177-3AD203B41FA5}">
                      <a16:colId xmlns:a16="http://schemas.microsoft.com/office/drawing/2014/main" val="2659184322"/>
                    </a:ext>
                  </a:extLst>
                </a:gridCol>
              </a:tblGrid>
              <a:tr h="3507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PaymentMethod</a:t>
                      </a:r>
                      <a:endParaRPr lang="vi-VN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83337"/>
                  </a:ext>
                </a:extLst>
              </a:tr>
              <a:tr h="35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576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D4EF01-EB0C-8DB5-510A-10943ABCF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899702"/>
              </p:ext>
            </p:extLst>
          </p:nvPr>
        </p:nvGraphicFramePr>
        <p:xfrm>
          <a:off x="10071100" y="457226"/>
          <a:ext cx="1899920" cy="5983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9920">
                  <a:extLst>
                    <a:ext uri="{9D8B030D-6E8A-4147-A177-3AD203B41FA5}">
                      <a16:colId xmlns:a16="http://schemas.microsoft.com/office/drawing/2014/main" val="2659184322"/>
                    </a:ext>
                  </a:extLst>
                </a:gridCol>
              </a:tblGrid>
              <a:tr h="2404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CreditCard</a:t>
                      </a:r>
                      <a:endParaRPr lang="vi-VN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83337"/>
                  </a:ext>
                </a:extLst>
              </a:tr>
              <a:tr h="35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57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1ED8055-7BD6-9231-46BD-575C87B96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872515"/>
              </p:ext>
            </p:extLst>
          </p:nvPr>
        </p:nvGraphicFramePr>
        <p:xfrm>
          <a:off x="10071100" y="1508786"/>
          <a:ext cx="1899920" cy="5983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9920">
                  <a:extLst>
                    <a:ext uri="{9D8B030D-6E8A-4147-A177-3AD203B41FA5}">
                      <a16:colId xmlns:a16="http://schemas.microsoft.com/office/drawing/2014/main" val="2659184322"/>
                    </a:ext>
                  </a:extLst>
                </a:gridCol>
              </a:tblGrid>
              <a:tr h="2404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EWallet</a:t>
                      </a:r>
                      <a:endParaRPr lang="vi-VN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83337"/>
                  </a:ext>
                </a:extLst>
              </a:tr>
              <a:tr h="354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5761"/>
                  </a:ext>
                </a:extLst>
              </a:tr>
            </a:tbl>
          </a:graphicData>
        </a:graphic>
      </p:graphicFrame>
      <p:sp>
        <p:nvSpPr>
          <p:cNvPr id="8" name="Flowchart: Extract 7">
            <a:extLst>
              <a:ext uri="{FF2B5EF4-FFF2-40B4-BE49-F238E27FC236}">
                <a16:creationId xmlns:a16="http://schemas.microsoft.com/office/drawing/2014/main" id="{BC3FBE30-101C-4C7E-D80E-EF5AD9133D5A}"/>
              </a:ext>
            </a:extLst>
          </p:cNvPr>
          <p:cNvSpPr/>
          <p:nvPr/>
        </p:nvSpPr>
        <p:spPr>
          <a:xfrm rot="16200000">
            <a:off x="9201804" y="580063"/>
            <a:ext cx="179494" cy="173182"/>
          </a:xfrm>
          <a:prstGeom prst="flowChartExtra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EEEA4C-1067-44B3-2051-EC76E8505DFA}"/>
              </a:ext>
            </a:extLst>
          </p:cNvPr>
          <p:cNvCxnSpPr>
            <a:stCxn id="8" idx="2"/>
          </p:cNvCxnSpPr>
          <p:nvPr/>
        </p:nvCxnSpPr>
        <p:spPr>
          <a:xfrm>
            <a:off x="9378142" y="666654"/>
            <a:ext cx="69295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Flowchart: Extract 10">
            <a:extLst>
              <a:ext uri="{FF2B5EF4-FFF2-40B4-BE49-F238E27FC236}">
                <a16:creationId xmlns:a16="http://schemas.microsoft.com/office/drawing/2014/main" id="{6ACD22E4-F7E5-7058-D6B5-4D6F4152F61B}"/>
              </a:ext>
            </a:extLst>
          </p:cNvPr>
          <p:cNvSpPr/>
          <p:nvPr/>
        </p:nvSpPr>
        <p:spPr>
          <a:xfrm rot="16200000">
            <a:off x="9178482" y="1124316"/>
            <a:ext cx="179494" cy="173182"/>
          </a:xfrm>
          <a:prstGeom prst="flowChartExtra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3A3802-4145-955D-E07A-308F8A4CEE71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354820" y="1210907"/>
            <a:ext cx="716280" cy="37492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C01B968-10F1-237F-8019-DD96722AF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640020"/>
              </p:ext>
            </p:extLst>
          </p:nvPr>
        </p:nvGraphicFramePr>
        <p:xfrm>
          <a:off x="2295525" y="576907"/>
          <a:ext cx="1383030" cy="8815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030">
                  <a:extLst>
                    <a:ext uri="{9D8B030D-6E8A-4147-A177-3AD203B41FA5}">
                      <a16:colId xmlns:a16="http://schemas.microsoft.com/office/drawing/2014/main" val="2659184322"/>
                    </a:ext>
                  </a:extLst>
                </a:gridCol>
              </a:tblGrid>
              <a:tr h="3505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</a:p>
                    <a:p>
                      <a:pPr algn="ctr"/>
                      <a:r>
                        <a:rPr lang="vi-VN" sz="1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DiscountStrategy</a:t>
                      </a:r>
                      <a:endParaRPr lang="vi-VN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83337"/>
                  </a:ext>
                </a:extLst>
              </a:tr>
              <a:tr h="485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finalPay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576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7038C95-ED77-6C27-30F8-1B81273C1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03476"/>
              </p:ext>
            </p:extLst>
          </p:nvPr>
        </p:nvGraphicFramePr>
        <p:xfrm>
          <a:off x="395605" y="285731"/>
          <a:ext cx="1383030" cy="7618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030">
                  <a:extLst>
                    <a:ext uri="{9D8B030D-6E8A-4147-A177-3AD203B41FA5}">
                      <a16:colId xmlns:a16="http://schemas.microsoft.com/office/drawing/2014/main" val="2659184322"/>
                    </a:ext>
                  </a:extLst>
                </a:gridCol>
              </a:tblGrid>
              <a:tr h="276533">
                <a:tc>
                  <a:txBody>
                    <a:bodyPr/>
                    <a:lstStyle/>
                    <a:p>
                      <a:pPr algn="ctr"/>
                      <a:r>
                        <a:rPr lang="vi-VN" sz="1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NoDiscount</a:t>
                      </a:r>
                      <a:endParaRPr lang="vi-VN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83337"/>
                  </a:ext>
                </a:extLst>
              </a:tr>
              <a:tr h="485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finalPay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576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BEB55EF-EDF7-05C6-B1E0-C52DBE048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857051"/>
              </p:ext>
            </p:extLst>
          </p:nvPr>
        </p:nvGraphicFramePr>
        <p:xfrm>
          <a:off x="294322" y="2029632"/>
          <a:ext cx="1712596" cy="14444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2596">
                  <a:extLst>
                    <a:ext uri="{9D8B030D-6E8A-4147-A177-3AD203B41FA5}">
                      <a16:colId xmlns:a16="http://schemas.microsoft.com/office/drawing/2014/main" val="2659184322"/>
                    </a:ext>
                  </a:extLst>
                </a:gridCol>
              </a:tblGrid>
              <a:tr h="2861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FixedDiscount</a:t>
                      </a:r>
                      <a:endParaRPr lang="vi-VN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8333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discountAmount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FixedDiscount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fixedDiscount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finalPay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62505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3FDEAEA-FDBB-4083-B2FC-052BA42B5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740097"/>
              </p:ext>
            </p:extLst>
          </p:nvPr>
        </p:nvGraphicFramePr>
        <p:xfrm>
          <a:off x="2295524" y="2062824"/>
          <a:ext cx="1712596" cy="14444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2596">
                  <a:extLst>
                    <a:ext uri="{9D8B030D-6E8A-4147-A177-3AD203B41FA5}">
                      <a16:colId xmlns:a16="http://schemas.microsoft.com/office/drawing/2014/main" val="2659184322"/>
                    </a:ext>
                  </a:extLst>
                </a:gridCol>
              </a:tblGrid>
              <a:tr h="2861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PercentageDiscount</a:t>
                      </a:r>
                      <a:endParaRPr lang="vi-VN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8333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percent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PercentageDiscount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percent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finalPay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625054"/>
                  </a:ext>
                </a:extLst>
              </a:tr>
            </a:tbl>
          </a:graphicData>
        </a:graphic>
      </p:graphicFrame>
      <p:sp>
        <p:nvSpPr>
          <p:cNvPr id="18" name="Flowchart: Extract 17">
            <a:extLst>
              <a:ext uri="{FF2B5EF4-FFF2-40B4-BE49-F238E27FC236}">
                <a16:creationId xmlns:a16="http://schemas.microsoft.com/office/drawing/2014/main" id="{A80C09AC-701F-D5EB-C7F0-3D8A333986B0}"/>
              </a:ext>
            </a:extLst>
          </p:cNvPr>
          <p:cNvSpPr/>
          <p:nvPr/>
        </p:nvSpPr>
        <p:spPr>
          <a:xfrm rot="21345494">
            <a:off x="2877204" y="1464861"/>
            <a:ext cx="179494" cy="173182"/>
          </a:xfrm>
          <a:prstGeom prst="flowChartExtra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7C6699-A9F9-FCCB-2775-63EAA51ABB20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2973356" y="1637806"/>
            <a:ext cx="13684" cy="4250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Flowchart: Extract 21">
            <a:extLst>
              <a:ext uri="{FF2B5EF4-FFF2-40B4-BE49-F238E27FC236}">
                <a16:creationId xmlns:a16="http://schemas.microsoft.com/office/drawing/2014/main" id="{536CC234-C105-0224-73E3-D7B6F7D68195}"/>
              </a:ext>
            </a:extLst>
          </p:cNvPr>
          <p:cNvSpPr/>
          <p:nvPr/>
        </p:nvSpPr>
        <p:spPr>
          <a:xfrm rot="3407780">
            <a:off x="2084177" y="1249357"/>
            <a:ext cx="179494" cy="173182"/>
          </a:xfrm>
          <a:prstGeom prst="flowChartExtra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7364B4-D819-7AFD-37E2-C4E219BDD3D6}"/>
              </a:ext>
            </a:extLst>
          </p:cNvPr>
          <p:cNvCxnSpPr>
            <a:cxnSpLocks/>
            <a:stCxn id="22" idx="2"/>
            <a:endCxn id="16" idx="0"/>
          </p:cNvCxnSpPr>
          <p:nvPr/>
        </p:nvCxnSpPr>
        <p:spPr>
          <a:xfrm flipH="1">
            <a:off x="1150620" y="1383367"/>
            <a:ext cx="950851" cy="64626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Flowchart: Extract 26">
            <a:extLst>
              <a:ext uri="{FF2B5EF4-FFF2-40B4-BE49-F238E27FC236}">
                <a16:creationId xmlns:a16="http://schemas.microsoft.com/office/drawing/2014/main" id="{76DAF326-0316-6674-ECF0-321D84E93162}"/>
              </a:ext>
            </a:extLst>
          </p:cNvPr>
          <p:cNvSpPr/>
          <p:nvPr/>
        </p:nvSpPr>
        <p:spPr>
          <a:xfrm rot="5236338">
            <a:off x="2084177" y="724300"/>
            <a:ext cx="179494" cy="173182"/>
          </a:xfrm>
          <a:prstGeom prst="flowChartExtra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851DE-3AC6-A5D3-2227-F45490374326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1786294" y="815012"/>
            <a:ext cx="30113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7578933-A752-E199-F243-9288AD838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129326"/>
              </p:ext>
            </p:extLst>
          </p:nvPr>
        </p:nvGraphicFramePr>
        <p:xfrm>
          <a:off x="4503551" y="438513"/>
          <a:ext cx="2204083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4083">
                  <a:extLst>
                    <a:ext uri="{9D8B030D-6E8A-4147-A177-3AD203B41FA5}">
                      <a16:colId xmlns:a16="http://schemas.microsoft.com/office/drawing/2014/main" val="2659184322"/>
                    </a:ext>
                  </a:extLst>
                </a:gridCol>
              </a:tblGrid>
              <a:tr h="2861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</a:t>
                      </a:r>
                      <a:endParaRPr lang="vi-VN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8333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id: String</a:t>
                      </a:r>
                    </a:p>
                    <a:p>
                      <a:r>
                        <a:rPr lang="en-US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cost: double</a:t>
                      </a:r>
                    </a:p>
                    <a:p>
                      <a:r>
                        <a:rPr lang="en-US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payment: </a:t>
                      </a:r>
                      <a:r>
                        <a:rPr lang="en-US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PaymentMethod</a:t>
                      </a:r>
                      <a:endParaRPr lang="en-US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discountStrategy</a:t>
                      </a:r>
                      <a:r>
                        <a:rPr lang="en-US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DiscountStrategy</a:t>
                      </a:r>
                      <a:endParaRPr lang="en-US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Order(id: String, cost: double)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setPayment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PaymentMethod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setDiscountStrategy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discountStrategy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DiscountStrategy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getTotalPay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():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</a:t>
                      </a:r>
                      <a:r>
                        <a:rPr lang="vi-V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(): </a:t>
                      </a:r>
                      <a:r>
                        <a:rPr lang="vi-VN" sz="1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endParaRPr lang="vi-VN" sz="1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625054"/>
                  </a:ext>
                </a:extLst>
              </a:tr>
            </a:tbl>
          </a:graphicData>
        </a:graphic>
      </p:graphicFrame>
      <p:sp>
        <p:nvSpPr>
          <p:cNvPr id="32" name="Diamond 31">
            <a:extLst>
              <a:ext uri="{FF2B5EF4-FFF2-40B4-BE49-F238E27FC236}">
                <a16:creationId xmlns:a16="http://schemas.microsoft.com/office/drawing/2014/main" id="{426EB0D5-F1B5-82D1-21D9-F126DF97EBC4}"/>
              </a:ext>
            </a:extLst>
          </p:cNvPr>
          <p:cNvSpPr/>
          <p:nvPr/>
        </p:nvSpPr>
        <p:spPr>
          <a:xfrm>
            <a:off x="4160520" y="576907"/>
            <a:ext cx="343031" cy="179494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1F8E3E-88F9-9884-E65D-BBF09E34BAE6}"/>
              </a:ext>
            </a:extLst>
          </p:cNvPr>
          <p:cNvCxnSpPr>
            <a:stCxn id="32" idx="1"/>
          </p:cNvCxnSpPr>
          <p:nvPr/>
        </p:nvCxnSpPr>
        <p:spPr>
          <a:xfrm flipH="1">
            <a:off x="3678555" y="666654"/>
            <a:ext cx="4819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Diamond 34">
            <a:extLst>
              <a:ext uri="{FF2B5EF4-FFF2-40B4-BE49-F238E27FC236}">
                <a16:creationId xmlns:a16="http://schemas.microsoft.com/office/drawing/2014/main" id="{2234B693-52BE-084C-A81B-AACE52916DD9}"/>
              </a:ext>
            </a:extLst>
          </p:cNvPr>
          <p:cNvSpPr/>
          <p:nvPr/>
        </p:nvSpPr>
        <p:spPr>
          <a:xfrm>
            <a:off x="6707634" y="666654"/>
            <a:ext cx="334387" cy="148358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E8853F-B969-5AB4-7A25-02CD7999A389}"/>
              </a:ext>
            </a:extLst>
          </p:cNvPr>
          <p:cNvCxnSpPr>
            <a:stCxn id="35" idx="3"/>
          </p:cNvCxnSpPr>
          <p:nvPr/>
        </p:nvCxnSpPr>
        <p:spPr>
          <a:xfrm>
            <a:off x="7042021" y="740833"/>
            <a:ext cx="263019" cy="155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697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290</Words>
  <Application>Microsoft Office PowerPoint</Application>
  <PresentationFormat>Widescreen</PresentationFormat>
  <Paragraphs>64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Đạt Lý</dc:creator>
  <cp:lastModifiedBy>Đạt Lý</cp:lastModifiedBy>
  <cp:revision>13</cp:revision>
  <dcterms:created xsi:type="dcterms:W3CDTF">2025-03-30T02:14:48Z</dcterms:created>
  <dcterms:modified xsi:type="dcterms:W3CDTF">2025-03-30T03:27:33Z</dcterms:modified>
</cp:coreProperties>
</file>